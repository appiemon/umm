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제목. 플라스틱을 쓴 만큼 세금을 매기는 제도. 설명 후 바로 게임으로 이어진다고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정의와 원리. 오염자 부담은 '버린 사람이 치우는 돈을 낸다'고 풀어서.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플라스틱이라도 어느 단계에서 매기느냐에 따라 누가 돈을 내는지가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영국은 기업에, EU는 회원국에 부담을 지운다는 차이를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한국은 이미 다운스트림을 여러 개 쓰고 있다. 종량제 봉투는 모두가 경험한 사례.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한 줄씩 읽지 말고 공평성·실효성에 시간을 더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3번 실제 사례를 가장 강하게.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역진세는 소득이 적은 사람이 더 큰 부담을 진다는 뜻이라고 반드시 풀어서.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 후 바로 복습 게임으로 넘어간다. 다음 슬라이드부터가 플레이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1라운드는 발표자가 시범. 손 든 사람 중에서 2·3·4라운드 지목. 스킵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오레오는 총딜 1등이 아니라 '직전 사람 대비 DPS가 가장 많이 오른 사람'. 발표자 시범이 기준이라 뒤 사람이 이길 여지가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링크를 띄운 채로 1라운드 시범. WASD만 하면 공격은 자동. 틀려도 강화, 맞히면 강화 2장. M으로 소리.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질문. 링크는 칠판/채팅에도 올려 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mporary-instant-basin-ojq6z5r.vercel.app" TargetMode="Externa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mporary-instant-basin-ojq6z5r.vercel.app" TargetMode="Externa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420000"/>
            <a:ext cx="2800000" cy="40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20000"/>
            <a:ext cx="28000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발표 · 그다음 바로 플레이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900000"/>
            <a:ext cx="7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50000"/>
            <a:ext cx="6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BBE9D"/>
                </a:solidFill>
                <a:latin typeface="맑은 고딕"/>
                <a:ea typeface="맑은 고딕"/>
              </a:rPr>
              <a:t>플라스틱세 정책 개요와 쟁점, 그리고 4라운드 복습 게임</a:t>
            </a:r>
          </a:p>
        </p:txBody>
      </p:sp>
      <p:pic>
        <p:nvPicPr>
          <p:cNvPr id="9" name="Picture 8" descr="ppt_plastic_w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2100000"/>
            <a:ext cx="5400000" cy="304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" y="2500000"/>
            <a:ext cx="5000000" cy="14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620000"/>
            <a:ext cx="47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오늘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20000"/>
            <a:ext cx="47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1) 개념 설명   2) 해외·한국 사례   3) 찬반
4) 발표자 시범 한 판   5) 세 명이 이어서 플레이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40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0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플라스틱세란?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6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쓰거나 버린 양에 비례해 세금을 매기는 제도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8952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952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8952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오염자 부담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952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환경을 오염시킨 쪽이 치우는 비용을 낸다.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0000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70000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0000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0000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경제적 유인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0000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세금이 아까워서 덜 쓰고, 더 재활용하게 만든다.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0000" y="1600000"/>
            <a:ext cx="3400000" cy="42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60000" y="174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0000" y="174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000" y="1760000"/>
            <a:ext cx="26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과세 시점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0000" y="2220000"/>
            <a:ext cx="3040000" cy="3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만들 때 매길지, 버릴 때 매길지를 정한다.
→ 업스트림 / 다운스트림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900000"/>
            <a:ext cx="4800000" cy="320000"/>
          </a:xfrm>
          <a:prstGeom prst="roundRect">
            <a:avLst>
              <a:gd name="adj" fmla="val 4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5900000"/>
            <a:ext cx="48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영국 기준  재생원료 30% 미만이면 세금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50000" y="5900000"/>
            <a:ext cx="5600000" cy="320000"/>
          </a:xfrm>
          <a:prstGeom prst="roundRect">
            <a:avLst>
              <a:gd name="adj" fmla="val 4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50000" y="5900000"/>
            <a:ext cx="5600000" cy="3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300" b="1">
                <a:solidFill>
                  <a:srgbClr val="D5E2D2"/>
                </a:solidFill>
                <a:latin typeface="맑은 고딕"/>
                <a:ea typeface="맑은 고딕"/>
              </a:rPr>
              <a:t>과세 방식은 크게 두 가지 — 업스트림 / 다운스트림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세금, 어디에 매길까?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2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앞단에 매기면 업스트림, 뒷단에 매기면 다운스트림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1A3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생산·수입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유통·판매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소비·사용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0000" y="1480000"/>
            <a:ext cx="4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0000" y="1400000"/>
            <a:ext cx="2000000" cy="700000"/>
          </a:xfrm>
          <a:prstGeom prst="roundRect">
            <a:avLst>
              <a:gd name="adj" fmla="val 20000"/>
            </a:avLst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0000" y="1400000"/>
            <a:ext cx="20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배출·폐기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00" y="2150000"/>
            <a:ext cx="42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07A3D"/>
                </a:solidFill>
                <a:latin typeface="맑은 고딕"/>
                <a:ea typeface="맑은 고딕"/>
              </a:rPr>
              <a:t>◀  업스트림 (생산자 · 수입자)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0" y="2150000"/>
            <a:ext cx="44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3DC997"/>
                </a:solidFill>
                <a:latin typeface="맑은 고딕"/>
                <a:ea typeface="맑은 고딕"/>
              </a:rPr>
              <a:t>다운스트림 (소비자 · 배출자)  ▶</a:t>
            </a:r>
          </a:p>
        </p:txBody>
      </p:sp>
      <p:pic>
        <p:nvPicPr>
          <p:cNvPr id="24" name="Picture 23" descr="ppt_up_d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2550000"/>
            <a:ext cx="5200000" cy="29200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100000" y="2550000"/>
            <a:ext cx="5300000" cy="135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0000" y="2710000"/>
            <a:ext cx="494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0000" y="3110000"/>
            <a:ext cx="4940000" cy="6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만드는 회사·수입하는 회사에 세금.
재활용 원료를 적게 쓸수록 세금이 많아짐.
가격에 섞여 들어가 소비자는 잘 못 느낌.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0000" y="4050000"/>
            <a:ext cx="5300000" cy="142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0000" y="4210000"/>
            <a:ext cx="494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0000" y="4610000"/>
            <a:ext cx="494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버리고 나서, 버린 양만큼 직접 냄.
덜 버리면 바로 돈이 굳어 체감이 큼.
대신 확인·관리에 손이 많이 감.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36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36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업스트림 과세 · 해외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재활용 원료를 적게 쓴 포장재에 세금을 매긴다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5400000" cy="43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600000"/>
            <a:ext cx="50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🇬🇧  영국 Plastic Packaging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000000"/>
            <a:ext cx="500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BBE9D"/>
                </a:solidFill>
                <a:latin typeface="맑은 고딕"/>
                <a:ea typeface="맑은 고딕"/>
              </a:rPr>
              <a:t>2022년 시행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2450000"/>
            <a:ext cx="5000000" cy="2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대상  재생 플라스틱 30% 미만 포장재
기준  무게(톤)
누구  생산자 · 수입자에게 직접
목적  재생 원료를 더 쓰게 만드는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000" y="1450000"/>
            <a:ext cx="5000000" cy="1800000"/>
          </a:xfrm>
          <a:prstGeom prst="roundRect">
            <a:avLst>
              <a:gd name="adj" fmla="val 12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600000"/>
            <a:ext cx="4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2150000"/>
            <a:ext cx="46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이 선을 넘기면 세금 0
못 넘기면 톤당 세금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000" y="3450000"/>
            <a:ext cx="5000000" cy="23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3600000"/>
            <a:ext cx="4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🇪🇺  EU 플라스틱 분담금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000" y="4100000"/>
            <a:ext cx="460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  <a:ea typeface="맑은 고딕"/>
              </a:rPr>
              <a:t>대상  재활용되지 않은 포장 폐기물
누가  회원국 → EU 예산
얼마  1kg당 0.80유로
기업이 아니라 국가가 부담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3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3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다운스트림 · 한국이 쓰는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버리는 양에 비례해 비용을 부담한다</a:t>
            </a:r>
          </a:p>
        </p:txBody>
      </p:sp>
      <p:pic>
        <p:nvPicPr>
          <p:cNvPr id="8" name="Picture 7" descr="ppt_korea_down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450000"/>
            <a:ext cx="4300000" cy="3225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00000" y="145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20000" y="159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0" y="161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종량제 봉투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0000" y="207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쓰레기 양(봉투 크기)만큼 돈을 내는 가장 익숙한 사례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0000" y="268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20000" y="282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0000" y="28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0" y="284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자원순환보증금제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0000" y="330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일회용 비닐봉투·플라스틱 용기에 보증금을 붙여 회수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0000" y="3910000"/>
            <a:ext cx="6200000" cy="11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20000" y="4050000"/>
            <a:ext cx="420000" cy="420000"/>
          </a:xfrm>
          <a:prstGeom prst="ellipse">
            <a:avLst/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0000" y="405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0000" y="4070000"/>
            <a:ext cx="54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일회용컵 보증금제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0000" y="4530000"/>
            <a:ext cx="584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쓸 때 보증금을 내고, 컵을 돌려주면 돌려받는다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설계할 때 부딪히는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누구에게, 무엇을 기준으로 — 공평성과 효과까지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0000" y="157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5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14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과세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0" y="14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만들 때 매길까, 버릴 때 매길까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25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000" y="242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24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000" y="233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세율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33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무게 / 개수 / 재활용률에 따라 다르게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31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0000" y="327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32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0000" y="31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공평성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000" y="31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소득이 적은 가구가 더 큰 부담 (역진세)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000" y="395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000" y="412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412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000" y="403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4D35E"/>
                </a:solidFill>
                <a:latin typeface="맑은 고딕"/>
                <a:ea typeface="맑은 고딕"/>
              </a:rPr>
              <a:t>실효성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0000" y="403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대신 쓸 물건이 없으면 값만 오르고 사용량은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000" y="4800000"/>
            <a:ext cx="10600000" cy="760000"/>
          </a:xfrm>
          <a:prstGeom prst="roundRect">
            <a:avLst>
              <a:gd name="adj" fmla="val 10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0000" y="497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" y="497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0000" y="4880000"/>
            <a:ext cx="30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부정 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0000" y="4880000"/>
            <a:ext cx="6400000" cy="6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D5E2D2"/>
                </a:solidFill>
                <a:latin typeface="맑은 고딕"/>
                <a:ea typeface="맑은 고딕"/>
              </a:rPr>
              <a:t>세금을 피하려고 몰래 버리는 일이 늘 수 있음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1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1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찬성 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환경 효과가 확인된다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오염자 부담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환경 비용을 오염시킨 쪽이 직접 부담. 책임 소재가 분명해진다.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기술 유도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세금을 덜 내려고 재생 원료를 쓰고, 플라스틱을 줄인 제품을 개발한다.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000" y="159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실제 성공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영국·아일랜드 비닐봉투세 도입 뒤 사용량이 크게 줄었다.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반대 · 우려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40000"/>
            <a:ext cx="106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공평성 쟁점이 가장 크다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90000"/>
            <a:ext cx="420000" cy="420000"/>
          </a:xfrm>
          <a:prstGeom prst="ellipse">
            <a:avLst/>
          </a:prstGeom>
          <a:solidFill>
            <a:srgbClr val="FF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소득이 적을수록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생활에 꼭 필요한 소비에 붙는 세금이라 저소득 가구의 부담이 상대적으로 더 크다. = 역진세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대체재도 환경 비용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종이·유리로 바꿔도 만들고 버리는 과정에서 또 다른 부담이 생긴다.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450000"/>
            <a:ext cx="3500000" cy="40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0000" y="1590000"/>
            <a:ext cx="420000" cy="42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000" y="159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0" y="1610000"/>
            <a:ext cx="275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작은 가게의 행정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2070000"/>
            <a:ext cx="3140000" cy="32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5E2D2"/>
                </a:solidFill>
                <a:latin typeface="맑은 고딕"/>
                <a:ea typeface="맑은 고딕"/>
              </a:rPr>
              <a:t>신고·계산 절차 자체가 소규모 사업자에게는 추가 비용이다.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80000"/>
            <a:ext cx="22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80000"/>
            <a:ext cx="22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60000"/>
            <a:ext cx="106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플라스틱세는 만들 때 매기는 방식(업스트림)과
버릴 때 매기는 방식(다운스트림)으로 나뉜다.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2000000"/>
            <a:ext cx="5200000" cy="2200000"/>
          </a:xfrm>
          <a:prstGeom prst="roundRect">
            <a:avLst>
              <a:gd name="adj" fmla="val 8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200000"/>
            <a:ext cx="4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750000"/>
            <a:ext cx="4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생산자·수입자
영국 PPT · EU 분담금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2000000"/>
            <a:ext cx="5200000" cy="2200000"/>
          </a:xfrm>
          <a:prstGeom prst="roundRect">
            <a:avLst>
              <a:gd name="adj" fmla="val 8000"/>
            </a:avLst>
          </a:prstGeom>
          <a:solidFill>
            <a:srgbClr val="3D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0" y="2200000"/>
            <a:ext cx="4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2750000"/>
            <a:ext cx="48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소비자·배출자
종량제 · 보증금제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4450000"/>
            <a:ext cx="10700000" cy="1400000"/>
          </a:xfrm>
          <a:prstGeom prst="roundRect">
            <a:avLst>
              <a:gd name="adj" fmla="val 8000"/>
            </a:avLst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650000"/>
            <a:ext cx="103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설계의 핵심   공평성(역진세)과 실효성(대체재)을 같이 볼 것
우리 반이라면 어디에 세금을 매기는 게 좋을까?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24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24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이제 복습합니다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4라운드 · 매 라운드 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280000"/>
            <a:ext cx="10600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BBE9D"/>
                </a:solidFill>
                <a:latin typeface="맑은 고딕"/>
                <a:ea typeface="맑은 고딕"/>
              </a:rPr>
              <a:t>사냥으로 레벨업 → 보스 → 방금 들은 내용 퀴즈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000" y="1960000"/>
            <a:ext cx="800000" cy="80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A3D1C"/>
                </a:solidFill>
                <a:latin typeface="맑은 고딕"/>
                <a:ea typeface="맑은 고딕"/>
              </a:rPr>
              <a:t>1R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4D35E"/>
                </a:solidFill>
                <a:latin typeface="맑은 고딕"/>
                <a:ea typeface="맑은 고딕"/>
              </a:rPr>
              <a:t>시범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발표자가 직접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플라스틱세란?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2R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업스트림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3R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다운스트림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0000" y="1800000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00000" y="1960000"/>
            <a:ext cx="800000" cy="800000"/>
          </a:xfrm>
          <a:prstGeom prst="ellipse">
            <a:avLst/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0000" y="1960000"/>
            <a:ext cx="800000" cy="8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4R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000" y="2900000"/>
            <a:ext cx="236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6DA157"/>
                </a:solidFill>
                <a:latin typeface="맑은 고딕"/>
                <a:ea typeface="맑은 고딕"/>
              </a:rPr>
              <a:t>플레이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000" y="330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손 든 사람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0000" y="3850000"/>
            <a:ext cx="236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D5E2D2"/>
                </a:solidFill>
                <a:latin typeface="맑은 고딕"/>
                <a:ea typeface="맑은 고딕"/>
              </a:rPr>
              <a:t>쟁점·찬반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0000" y="4800000"/>
            <a:ext cx="10700000" cy="1100000"/>
          </a:xfrm>
          <a:prstGeom prst="roundRect">
            <a:avLst>
              <a:gd name="adj" fmla="val 1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000" y="5000000"/>
            <a:ext cx="103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틀려도 강화는 나옵니다.  맞히면 더 좋은 강화 2장.
1라운드는 제가 시범으로 한 판 하고, 그다음 세 명이 이어서 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36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36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점수 · 이거 중요합니다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20000"/>
            <a:ext cx="700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4D35E"/>
                </a:solidFill>
                <a:latin typeface="맑은 고딕"/>
                <a:ea typeface="맑은 고딕"/>
              </a:rPr>
              <a:t>1등이 오레오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450000"/>
            <a:ext cx="6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  <a:ea typeface="맑은 고딕"/>
              </a:rPr>
              <a:t>직전 사람보다 DPS가 얼마나 올랐는지</a:t>
            </a:r>
          </a:p>
        </p:txBody>
      </p:sp>
      <p:pic>
        <p:nvPicPr>
          <p:cNvPr id="9" name="Picture 8" descr="ppt_or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000" y="900000"/>
            <a:ext cx="3600000" cy="360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0000" y="210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0000" y="223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23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0000" y="210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1R 발표자 기록이 기준이 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85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0000" y="298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298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0000" y="285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매 라운드 초당 피해(DPS)를 잽니다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360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0000" y="373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000" y="373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360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직전 라운드 대비 몇 % 올랐는지로 순위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000" y="4350000"/>
            <a:ext cx="6800000" cy="680000"/>
          </a:xfrm>
          <a:prstGeom prst="roundRect">
            <a:avLst>
              <a:gd name="adj" fmla="val 12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0000" y="4480000"/>
            <a:ext cx="420000" cy="420000"/>
          </a:xfrm>
          <a:prstGeom prst="ellipse">
            <a:avLst/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4480000"/>
            <a:ext cx="42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1A3D1C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4350000"/>
            <a:ext cx="5800000" cy="6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그 성장률 1등 → 오레오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360000"/>
            <a:ext cx="2800000" cy="380000"/>
          </a:xfrm>
          <a:prstGeom prst="roundRect">
            <a:avLst>
              <a:gd name="adj" fmla="val 50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360000"/>
            <a:ext cx="2800000" cy="3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이 화면에서 바로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8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지금 플레이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700000" y="1450000"/>
            <a:ext cx="10700000" cy="900000"/>
          </a:xfrm>
          <a:prstGeom prst="roundRect">
            <a:avLst>
              <a:gd name="adj" fmla="val 10000"/>
            </a:avLst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450000"/>
            <a:ext cx="1030000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A3D1C"/>
                </a:solidFill>
                <a:latin typeface="맑은 고딕"/>
                <a:ea typeface="맑은 고딕"/>
              </a:rPr>
              <a:t>https://temporary-instant-basin-ojq6z5r.vercel.app</a:t>
            </a:r>
          </a:p>
        </p:txBody>
      </p:sp>
      <p:pic>
        <p:nvPicPr>
          <p:cNvPr id="10" name="Picture 9" descr="gam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550000"/>
            <a:ext cx="2800000" cy="2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0000" y="5400000"/>
            <a:ext cx="2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BBE9D"/>
                </a:solidFill>
                <a:latin typeface="맑은 고딕"/>
                <a:ea typeface="맑은 고딕"/>
              </a:rPr>
              <a:t>폰으로 찍어도 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0000" y="2550000"/>
            <a:ext cx="7600000" cy="2700000"/>
          </a:xfrm>
          <a:prstGeom prst="roundRect">
            <a:avLst>
              <a:gd name="adj" fmla="val 8000"/>
            </a:avLst>
          </a:prstGeom>
          <a:solidFill>
            <a:srgbClr val="275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000" y="3200000"/>
            <a:ext cx="72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WASD 이동 · 공격 자동 · M 소리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0" y="3700000"/>
            <a:ext cx="72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9BBE9D"/>
                </a:solidFill>
                <a:latin typeface="맑은 고딕"/>
                <a:ea typeface="맑은 고딕"/>
              </a:rPr>
              <a:t>1라운드는 발표자 시범 → 그다음 세 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376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00000"/>
            <a:ext cx="106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700000"/>
            <a:ext cx="106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9BBE9D"/>
                </a:solidFill>
                <a:latin typeface="맑은 고딕"/>
                <a:ea typeface="맑은 고딕"/>
              </a:rPr>
              <a:t>질문 받겠습니다  ·  오레오는 게임이 끝난 뒤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2200000" y="3600000"/>
            <a:ext cx="7800000" cy="900000"/>
          </a:xfrm>
          <a:prstGeom prst="roundRect">
            <a:avLst>
              <a:gd name="adj" fmla="val 12000"/>
            </a:avLst>
          </a:prstGeom>
          <a:solidFill>
            <a:srgbClr val="6DA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0" y="3600000"/>
            <a:ext cx="7800000" cy="9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https://temporary-instant-basin-ojq6z5r.vercel.app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263640"/>
            <a:ext cx="5000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플라스틱 배출량 기반 과세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8343" y="6263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BBE9D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